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B76FA5F-D163-4D77-A85C-84D320F358DB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1174320" y="162000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br>
              <a:rPr sz="2000"/>
            </a:b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Project Objective at the Top,  then dependencies (Activities) and sub dependencies (Tasks)</a:t>
            </a:r>
            <a:br>
              <a:rPr sz="2000"/>
            </a:br>
            <a:br>
              <a:rPr sz="2000"/>
            </a:b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Activities: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Tasks:</a:t>
            </a:r>
            <a:br>
              <a:rPr sz="2000"/>
            </a:br>
            <a:br>
              <a:rPr sz="2000"/>
            </a:br>
            <a:br>
              <a:rPr sz="2000"/>
            </a:br>
            <a:br>
              <a:rPr sz="2000"/>
            </a:b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WBS name: Student Placement Prediction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Description: Create a model to predict student graduation year and student placement.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Completion date: 11/7/24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Budget: $10,000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Level 1: 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D0E1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0D0E10"/>
                </a:solidFill>
                <a:latin typeface="inherit"/>
              </a:rPr>
              <a:t>Clean Data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Level 2: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D0E1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0D0E10"/>
                </a:solidFill>
                <a:latin typeface="inherit"/>
              </a:rPr>
              <a:t>Identify missing and null values. (Complete)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D0E1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0D0E10"/>
                </a:solidFill>
                <a:latin typeface="inherit"/>
              </a:rPr>
              <a:t>Remove noisy and irrelevant data. (Complete)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D0E1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0D0E10"/>
                </a:solidFill>
                <a:latin typeface="inherit"/>
              </a:rPr>
              <a:t> Train the model to predict graduation year and placement of students.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Level 3: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strike="noStrike" spc="-1">
                <a:solidFill>
                  <a:srgbClr val="2A2B2C"/>
                </a:solidFill>
                <a:latin typeface="gordita"/>
              </a:rPr>
              <a:t>1.</a:t>
            </a:r>
            <a:r>
              <a:rPr lang="en-IN" sz="2000" b="0" i="1" strike="noStrike" spc="-1">
                <a:solidFill>
                  <a:srgbClr val="2A2B2C"/>
                </a:solidFill>
                <a:latin typeface="inherit"/>
              </a:rPr>
              <a:t> Revamp brand guidelines 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D0E1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0D0E10"/>
                </a:solidFill>
                <a:latin typeface="inherit"/>
              </a:rPr>
              <a:t>Test the model to predict graduation year of students.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D0E1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2000" b="0" i="1" strike="noStrike" spc="-1">
                <a:solidFill>
                  <a:srgbClr val="0D0E10"/>
                </a:solidFill>
                <a:latin typeface="inherit"/>
              </a:rPr>
              <a:t>Test the model to predict placement.</a:t>
            </a: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IN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F4A53EF-7ECC-4D95-9021-CFDCFE91080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8A8D561-D34D-4BF1-B952-C0FFB29955E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EE2AF87-6B74-44D6-B682-63213C63399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51C7D4D-FE45-4456-A3F3-740E927CC31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6430F1B-C598-4EBA-B1F0-D676C2603BC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B2660E4-3EEC-4897-BCAA-6B42C54BBBC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1AC56C-C3CD-493F-9BD3-8F29AA777CF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DF7F968-3E45-45F9-9E07-3ACFF2BEE45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C8A821A-592F-4D93-B7F9-0A06B6015BA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96144FE-F17C-4AA6-832F-960DB0BBF7D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EC2CA9C-0355-48CB-8524-4C814AC391F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EADACA7-156A-47EC-9A2B-37F9EB06F47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2C8D9AE-91BA-4EF4-9E59-FDDA0E43AE8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7209139-95A6-4FD3-A570-381F412AC5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1457DC4-88E7-458B-947E-DEEC4A711EF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A751CBC-D02E-49F0-92F9-9EA75EE73AE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43675D0-449B-4A46-9112-FEF379C6CF5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D2DD987-5553-47EF-87BE-DD6C5FBF218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934EEC5-6552-458E-A115-71903E2E69B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07FAB25-E493-46EA-BA3D-8D87FFBA1D5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9A1C94F-E8EE-4DAA-81D4-C6197A75E42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E51BBD9-183D-4610-96D2-6C4C54A4F79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D1A004C-B1C9-4AC4-9553-06146423B8F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BBB95C6-4680-4902-872F-B108D018318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CEA6ACB-DD79-413D-B047-2EFAA4C20F4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5A1F5A-1E7B-476C-96C8-7A97C3FA164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AB217B-6FD2-49A0-AAF2-4A7440BD7B4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2" descr="A picture containing text, outdoor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48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89" name="Content Placeholder 2"/>
          <p:cNvSpPr/>
          <p:nvPr/>
        </p:nvSpPr>
        <p:spPr>
          <a:xfrm>
            <a:off x="9099000" y="5420880"/>
            <a:ext cx="2859480" cy="93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IN" sz="3600" b="0" strike="noStrike" spc="-1">
              <a:solidFill>
                <a:srgbClr val="FF0000"/>
              </a:solidFill>
              <a:latin typeface="Segoe UI"/>
            </a:endParaRPr>
          </a:p>
        </p:txBody>
      </p:sp>
    </p:spTree>
  </p:cSld>
  <p:clrMapOvr>
    <a:masterClrMapping/>
  </p:clrMapOvr>
  <p:transition spd="slow" advTm="0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57760" y="86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chemeClr val="dk1"/>
                </a:solidFill>
                <a:latin typeface="Calibri"/>
              </a:rPr>
              <a:t>WORK BREAKDOWN STRUCTURE – </a:t>
            </a:r>
            <a:br>
              <a:rPr sz="4400" dirty="0"/>
            </a:br>
            <a:r>
              <a:rPr lang="en-US" sz="4400" b="1" strike="noStrike" spc="-1" dirty="0">
                <a:solidFill>
                  <a:schemeClr val="dk1"/>
                </a:solidFill>
                <a:latin typeface="Calibri"/>
              </a:rPr>
              <a:t>IP4901 Live Project Deliverables – ‘Machine Learning’</a:t>
            </a:r>
            <a:endParaRPr lang="en-IN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" name="Diagram 7"/>
          <p:cNvGrpSpPr/>
          <p:nvPr/>
        </p:nvGrpSpPr>
        <p:grpSpPr>
          <a:xfrm>
            <a:off x="254160" y="1320480"/>
            <a:ext cx="11682360" cy="5331600"/>
            <a:chOff x="254160" y="1320480"/>
            <a:chExt cx="11682360" cy="5331600"/>
          </a:xfrm>
        </p:grpSpPr>
        <p:sp>
          <p:nvSpPr>
            <p:cNvPr id="92" name="Rectangle 91"/>
            <p:cNvSpPr/>
            <p:nvPr/>
          </p:nvSpPr>
          <p:spPr>
            <a:xfrm>
              <a:off x="254160" y="1320480"/>
              <a:ext cx="11682360" cy="533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Freeform: Shape 92"/>
            <p:cNvSpPr/>
            <p:nvPr/>
          </p:nvSpPr>
          <p:spPr>
            <a:xfrm>
              <a:off x="11150280" y="4119120"/>
              <a:ext cx="90360" cy="350280"/>
            </a:xfrm>
            <a:custGeom>
              <a:avLst/>
              <a:gdLst>
                <a:gd name="textAreaLeft" fmla="*/ 0 w 90360"/>
                <a:gd name="textAreaRight" fmla="*/ 91080 w 9036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91440" h="351287">
                  <a:moveTo>
                    <a:pt x="45720" y="0"/>
                  </a:moveTo>
                  <a:lnTo>
                    <a:pt x="45720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Freeform: Shape 93"/>
            <p:cNvSpPr/>
            <p:nvPr/>
          </p:nvSpPr>
          <p:spPr>
            <a:xfrm>
              <a:off x="6397920" y="3000600"/>
              <a:ext cx="4797000" cy="350280"/>
            </a:xfrm>
            <a:custGeom>
              <a:avLst/>
              <a:gdLst>
                <a:gd name="textAreaLeft" fmla="*/ 0 w 4797000"/>
                <a:gd name="textAreaRight" fmla="*/ 4797720 w 479700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4797902" h="351287">
                  <a:moveTo>
                    <a:pt x="0" y="0"/>
                  </a:moveTo>
                  <a:lnTo>
                    <a:pt x="0" y="239391"/>
                  </a:lnTo>
                  <a:lnTo>
                    <a:pt x="4797902" y="239391"/>
                  </a:lnTo>
                  <a:lnTo>
                    <a:pt x="4797902" y="351287"/>
                  </a:lnTo>
                </a:path>
              </a:pathLst>
            </a:custGeom>
            <a:noFill/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Freeform: Shape 94"/>
            <p:cNvSpPr/>
            <p:nvPr/>
          </p:nvSpPr>
          <p:spPr>
            <a:xfrm>
              <a:off x="8981280" y="4119120"/>
              <a:ext cx="736920" cy="350280"/>
            </a:xfrm>
            <a:custGeom>
              <a:avLst/>
              <a:gdLst>
                <a:gd name="textAreaLeft" fmla="*/ 0 w 736920"/>
                <a:gd name="textAreaRight" fmla="*/ 737640 w 73692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738138" h="351287">
                  <a:moveTo>
                    <a:pt x="0" y="0"/>
                  </a:moveTo>
                  <a:lnTo>
                    <a:pt x="0" y="239391"/>
                  </a:lnTo>
                  <a:lnTo>
                    <a:pt x="738138" y="239391"/>
                  </a:lnTo>
                  <a:lnTo>
                    <a:pt x="738138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Freeform: Shape 95"/>
            <p:cNvSpPr/>
            <p:nvPr/>
          </p:nvSpPr>
          <p:spPr>
            <a:xfrm>
              <a:off x="8243280" y="5237280"/>
              <a:ext cx="2213280" cy="350280"/>
            </a:xfrm>
            <a:custGeom>
              <a:avLst/>
              <a:gdLst>
                <a:gd name="textAreaLeft" fmla="*/ 0 w 2213280"/>
                <a:gd name="textAreaRight" fmla="*/ 2214000 w 221328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2214416" h="351287">
                  <a:moveTo>
                    <a:pt x="0" y="0"/>
                  </a:moveTo>
                  <a:lnTo>
                    <a:pt x="0" y="239391"/>
                  </a:lnTo>
                  <a:lnTo>
                    <a:pt x="2214416" y="239391"/>
                  </a:lnTo>
                  <a:lnTo>
                    <a:pt x="2214416" y="351287"/>
                  </a:lnTo>
                </a:path>
              </a:pathLst>
            </a:custGeom>
            <a:noFill/>
            <a:ln>
              <a:solidFill>
                <a:srgbClr val="66666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Freeform: Shape 96"/>
            <p:cNvSpPr/>
            <p:nvPr/>
          </p:nvSpPr>
          <p:spPr>
            <a:xfrm>
              <a:off x="8243280" y="5237280"/>
              <a:ext cx="736920" cy="350280"/>
            </a:xfrm>
            <a:custGeom>
              <a:avLst/>
              <a:gdLst>
                <a:gd name="textAreaLeft" fmla="*/ 0 w 736920"/>
                <a:gd name="textAreaRight" fmla="*/ 737640 w 73692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738138" h="351287">
                  <a:moveTo>
                    <a:pt x="0" y="0"/>
                  </a:moveTo>
                  <a:lnTo>
                    <a:pt x="0" y="239391"/>
                  </a:lnTo>
                  <a:lnTo>
                    <a:pt x="738138" y="239391"/>
                  </a:lnTo>
                  <a:lnTo>
                    <a:pt x="738138" y="351287"/>
                  </a:lnTo>
                </a:path>
              </a:pathLst>
            </a:custGeom>
            <a:noFill/>
            <a:ln>
              <a:solidFill>
                <a:srgbClr val="66666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Freeform: Shape 97"/>
            <p:cNvSpPr/>
            <p:nvPr/>
          </p:nvSpPr>
          <p:spPr>
            <a:xfrm>
              <a:off x="7505280" y="5237280"/>
              <a:ext cx="736920" cy="350280"/>
            </a:xfrm>
            <a:custGeom>
              <a:avLst/>
              <a:gdLst>
                <a:gd name="textAreaLeft" fmla="*/ 0 w 736920"/>
                <a:gd name="textAreaRight" fmla="*/ 737640 w 73692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738138" h="351287">
                  <a:moveTo>
                    <a:pt x="738138" y="0"/>
                  </a:moveTo>
                  <a:lnTo>
                    <a:pt x="738138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66666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Freeform: Shape 98"/>
            <p:cNvSpPr/>
            <p:nvPr/>
          </p:nvSpPr>
          <p:spPr>
            <a:xfrm>
              <a:off x="6028920" y="5237280"/>
              <a:ext cx="2213280" cy="350280"/>
            </a:xfrm>
            <a:custGeom>
              <a:avLst/>
              <a:gdLst>
                <a:gd name="textAreaLeft" fmla="*/ 0 w 2213280"/>
                <a:gd name="textAreaRight" fmla="*/ 2214000 w 221328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2214416" h="351287">
                  <a:moveTo>
                    <a:pt x="2214416" y="0"/>
                  </a:moveTo>
                  <a:lnTo>
                    <a:pt x="2214416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66666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Freeform: Shape 99"/>
            <p:cNvSpPr/>
            <p:nvPr/>
          </p:nvSpPr>
          <p:spPr>
            <a:xfrm>
              <a:off x="8243280" y="4119120"/>
              <a:ext cx="736920" cy="350280"/>
            </a:xfrm>
            <a:custGeom>
              <a:avLst/>
              <a:gdLst>
                <a:gd name="textAreaLeft" fmla="*/ 0 w 736920"/>
                <a:gd name="textAreaRight" fmla="*/ 737640 w 73692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738138" h="351287">
                  <a:moveTo>
                    <a:pt x="738138" y="0"/>
                  </a:moveTo>
                  <a:lnTo>
                    <a:pt x="738138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Freeform: Shape 100"/>
            <p:cNvSpPr/>
            <p:nvPr/>
          </p:nvSpPr>
          <p:spPr>
            <a:xfrm>
              <a:off x="6397920" y="3000600"/>
              <a:ext cx="2582280" cy="350280"/>
            </a:xfrm>
            <a:custGeom>
              <a:avLst/>
              <a:gdLst>
                <a:gd name="textAreaLeft" fmla="*/ 0 w 2582280"/>
                <a:gd name="textAreaRight" fmla="*/ 2583000 w 258228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2583486" h="351287">
                  <a:moveTo>
                    <a:pt x="0" y="0"/>
                  </a:moveTo>
                  <a:lnTo>
                    <a:pt x="0" y="239391"/>
                  </a:lnTo>
                  <a:lnTo>
                    <a:pt x="2583486" y="239391"/>
                  </a:lnTo>
                  <a:lnTo>
                    <a:pt x="2583486" y="351287"/>
                  </a:lnTo>
                </a:path>
              </a:pathLst>
            </a:custGeom>
            <a:noFill/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Freeform: Shape 101"/>
            <p:cNvSpPr/>
            <p:nvPr/>
          </p:nvSpPr>
          <p:spPr>
            <a:xfrm>
              <a:off x="5290920" y="4119120"/>
              <a:ext cx="1475280" cy="350280"/>
            </a:xfrm>
            <a:custGeom>
              <a:avLst/>
              <a:gdLst>
                <a:gd name="textAreaLeft" fmla="*/ 0 w 1475280"/>
                <a:gd name="textAreaRight" fmla="*/ 1476000 w 147528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1476277" h="351287">
                  <a:moveTo>
                    <a:pt x="0" y="0"/>
                  </a:moveTo>
                  <a:lnTo>
                    <a:pt x="0" y="239391"/>
                  </a:lnTo>
                  <a:lnTo>
                    <a:pt x="1476277" y="239391"/>
                  </a:lnTo>
                  <a:lnTo>
                    <a:pt x="1476277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5245200" y="4119120"/>
              <a:ext cx="90360" cy="350280"/>
            </a:xfrm>
            <a:custGeom>
              <a:avLst/>
              <a:gdLst>
                <a:gd name="textAreaLeft" fmla="*/ 0 w 90360"/>
                <a:gd name="textAreaRight" fmla="*/ 91080 w 9036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91440" h="351287">
                  <a:moveTo>
                    <a:pt x="45720" y="0"/>
                  </a:moveTo>
                  <a:lnTo>
                    <a:pt x="45720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3814560" y="4119120"/>
              <a:ext cx="1475280" cy="350280"/>
            </a:xfrm>
            <a:custGeom>
              <a:avLst/>
              <a:gdLst>
                <a:gd name="textAreaLeft" fmla="*/ 0 w 1475280"/>
                <a:gd name="textAreaRight" fmla="*/ 1476000 w 147528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1476277" h="351287">
                  <a:moveTo>
                    <a:pt x="1476277" y="0"/>
                  </a:moveTo>
                  <a:lnTo>
                    <a:pt x="1476277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5290920" y="3000600"/>
              <a:ext cx="1106280" cy="350280"/>
            </a:xfrm>
            <a:custGeom>
              <a:avLst/>
              <a:gdLst>
                <a:gd name="textAreaLeft" fmla="*/ 0 w 1106280"/>
                <a:gd name="textAreaRight" fmla="*/ 1107000 w 110628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1107208" h="351287">
                  <a:moveTo>
                    <a:pt x="1107208" y="0"/>
                  </a:moveTo>
                  <a:lnTo>
                    <a:pt x="1107208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1600200" y="4119120"/>
              <a:ext cx="736920" cy="350280"/>
            </a:xfrm>
            <a:custGeom>
              <a:avLst/>
              <a:gdLst>
                <a:gd name="textAreaLeft" fmla="*/ 0 w 736920"/>
                <a:gd name="textAreaRight" fmla="*/ 737640 w 73692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738138" h="351287">
                  <a:moveTo>
                    <a:pt x="0" y="0"/>
                  </a:moveTo>
                  <a:lnTo>
                    <a:pt x="0" y="239391"/>
                  </a:lnTo>
                  <a:lnTo>
                    <a:pt x="738138" y="239391"/>
                  </a:lnTo>
                  <a:lnTo>
                    <a:pt x="738138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Freeform: Shape 106"/>
            <p:cNvSpPr/>
            <p:nvPr/>
          </p:nvSpPr>
          <p:spPr>
            <a:xfrm>
              <a:off x="861840" y="4119120"/>
              <a:ext cx="736920" cy="350280"/>
            </a:xfrm>
            <a:custGeom>
              <a:avLst/>
              <a:gdLst>
                <a:gd name="textAreaLeft" fmla="*/ 0 w 736920"/>
                <a:gd name="textAreaRight" fmla="*/ 737640 w 73692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738138" h="351287">
                  <a:moveTo>
                    <a:pt x="738138" y="0"/>
                  </a:moveTo>
                  <a:lnTo>
                    <a:pt x="738138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Freeform: Shape 107"/>
            <p:cNvSpPr/>
            <p:nvPr/>
          </p:nvSpPr>
          <p:spPr>
            <a:xfrm>
              <a:off x="1600200" y="3000600"/>
              <a:ext cx="4797000" cy="350280"/>
            </a:xfrm>
            <a:custGeom>
              <a:avLst/>
              <a:gdLst>
                <a:gd name="textAreaLeft" fmla="*/ 0 w 4797000"/>
                <a:gd name="textAreaRight" fmla="*/ 4797720 w 4797000"/>
                <a:gd name="textAreaTop" fmla="*/ 0 h 350280"/>
                <a:gd name="textAreaBottom" fmla="*/ 351000 h 350280"/>
              </a:gdLst>
              <a:ahLst/>
              <a:cxnLst/>
              <a:rect l="textAreaLeft" t="textAreaTop" r="textAreaRight" b="textAreaBottom"/>
              <a:pathLst>
                <a:path w="4797902" h="351287">
                  <a:moveTo>
                    <a:pt x="4797902" y="0"/>
                  </a:moveTo>
                  <a:lnTo>
                    <a:pt x="4797902" y="239391"/>
                  </a:lnTo>
                  <a:lnTo>
                    <a:pt x="0" y="239391"/>
                  </a:lnTo>
                  <a:lnTo>
                    <a:pt x="0" y="351287"/>
                  </a:lnTo>
                </a:path>
              </a:pathLst>
            </a:custGeom>
            <a:noFill/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Rectangle: Rounded Corners 108"/>
            <p:cNvSpPr/>
            <p:nvPr/>
          </p:nvSpPr>
          <p:spPr>
            <a:xfrm>
              <a:off x="4514040" y="1490400"/>
              <a:ext cx="3767040" cy="150948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0" name="Rectangle: Rounded Corners 109"/>
            <p:cNvSpPr/>
            <p:nvPr/>
          </p:nvSpPr>
          <p:spPr>
            <a:xfrm>
              <a:off x="4648320" y="1617840"/>
              <a:ext cx="3767040" cy="1509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273755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8760" tIns="68760" rIns="68760" bIns="68760" numCol="1" spcCol="1440" anchor="ctr">
              <a:noAutofit/>
            </a:bodyPr>
            <a:lstStyle/>
            <a:p>
              <a:pPr algn="ctr" defTabSz="800280">
                <a:lnSpc>
                  <a:spcPct val="90000"/>
                </a:lnSpc>
                <a:spcAft>
                  <a:spcPts val="629"/>
                </a:spcAft>
                <a:tabLst>
                  <a:tab pos="0" algn="l"/>
                </a:tabLst>
              </a:pPr>
              <a:r>
                <a:rPr lang="en-GB" sz="1800" b="1" strike="noStrike" spc="-1">
                  <a:solidFill>
                    <a:srgbClr val="000000"/>
                  </a:solidFill>
                  <a:latin typeface="Calibri"/>
                </a:rPr>
                <a:t>Create a </a:t>
              </a: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 defTabSz="800280">
                <a:lnSpc>
                  <a:spcPct val="90000"/>
                </a:lnSpc>
                <a:spcAft>
                  <a:spcPts val="839"/>
                </a:spcAft>
                <a:tabLst>
                  <a:tab pos="0" algn="l"/>
                </a:tabLst>
              </a:pPr>
              <a:r>
                <a:rPr lang="en-GB" sz="1800" b="1" strike="noStrike" spc="-1">
                  <a:solidFill>
                    <a:srgbClr val="000000"/>
                  </a:solidFill>
                  <a:latin typeface="Calibri"/>
                </a:rPr>
                <a:t>‘</a:t>
              </a:r>
              <a:r>
                <a:rPr lang="en-GB" sz="2400" b="1" strike="noStrike" spc="-1">
                  <a:solidFill>
                    <a:srgbClr val="000000"/>
                  </a:solidFill>
                  <a:latin typeface="Calibri"/>
                </a:rPr>
                <a:t>Machine Learning Model</a:t>
              </a:r>
              <a:r>
                <a:rPr lang="en-GB" sz="1800" b="1" strike="noStrike" spc="-1">
                  <a:solidFill>
                    <a:srgbClr val="000000"/>
                  </a:solidFill>
                  <a:latin typeface="Calibri"/>
                </a:rPr>
                <a:t>’ </a:t>
              </a: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 defTabSz="800280">
                <a:lnSpc>
                  <a:spcPct val="90000"/>
                </a:lnSpc>
                <a:spcAft>
                  <a:spcPts val="629"/>
                </a:spcAft>
                <a:tabLst>
                  <a:tab pos="0" algn="l"/>
                </a:tabLst>
              </a:pPr>
              <a:r>
                <a:rPr lang="en-GB" sz="1800" b="1" strike="noStrike" spc="-1">
                  <a:solidFill>
                    <a:srgbClr val="000000"/>
                  </a:solidFill>
                  <a:latin typeface="Calibri"/>
                </a:rPr>
                <a:t>as per Industry Ways of Working</a:t>
              </a: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Rectangle: Rounded Corners 110"/>
            <p:cNvSpPr/>
            <p:nvPr/>
          </p:nvSpPr>
          <p:spPr>
            <a:xfrm>
              <a:off x="996120" y="335196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Rectangle: Rounded Corners 111"/>
            <p:cNvSpPr/>
            <p:nvPr/>
          </p:nvSpPr>
          <p:spPr>
            <a:xfrm>
              <a:off x="1130400" y="347940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1" strike="noStrike" spc="-1">
                  <a:solidFill>
                    <a:srgbClr val="000000"/>
                  </a:solidFill>
                  <a:latin typeface="Calibri"/>
                </a:rPr>
                <a:t>INITIATION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Rectangle: Rounded Corners 112"/>
            <p:cNvSpPr/>
            <p:nvPr/>
          </p:nvSpPr>
          <p:spPr>
            <a:xfrm>
              <a:off x="25812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Rectangle: Rounded Corners 113"/>
            <p:cNvSpPr/>
            <p:nvPr/>
          </p:nvSpPr>
          <p:spPr>
            <a:xfrm>
              <a:off x="39204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Project Charter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Rectangle: Rounded Corners 114"/>
            <p:cNvSpPr/>
            <p:nvPr/>
          </p:nvSpPr>
          <p:spPr>
            <a:xfrm>
              <a:off x="173412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Rectangle: Rounded Corners 115"/>
            <p:cNvSpPr/>
            <p:nvPr/>
          </p:nvSpPr>
          <p:spPr>
            <a:xfrm>
              <a:off x="186840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SRS Document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Rectangle: Rounded Corners 116"/>
            <p:cNvSpPr/>
            <p:nvPr/>
          </p:nvSpPr>
          <p:spPr>
            <a:xfrm>
              <a:off x="4686840" y="335196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Rectangle: Rounded Corners 117"/>
            <p:cNvSpPr/>
            <p:nvPr/>
          </p:nvSpPr>
          <p:spPr>
            <a:xfrm>
              <a:off x="4821120" y="347940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1" strike="noStrike" spc="-1">
                  <a:solidFill>
                    <a:srgbClr val="000000"/>
                  </a:solidFill>
                  <a:latin typeface="Calibri"/>
                </a:rPr>
                <a:t>PLANNING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Rectangle: Rounded Corners 118"/>
            <p:cNvSpPr/>
            <p:nvPr/>
          </p:nvSpPr>
          <p:spPr>
            <a:xfrm>
              <a:off x="321048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Rectangle: Rounded Corners 119"/>
            <p:cNvSpPr/>
            <p:nvPr/>
          </p:nvSpPr>
          <p:spPr>
            <a:xfrm>
              <a:off x="334476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WBS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Rectangle: Rounded Corners 120"/>
            <p:cNvSpPr/>
            <p:nvPr/>
          </p:nvSpPr>
          <p:spPr>
            <a:xfrm>
              <a:off x="468684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Rectangle: Rounded Corners 121"/>
            <p:cNvSpPr/>
            <p:nvPr/>
          </p:nvSpPr>
          <p:spPr>
            <a:xfrm>
              <a:off x="482112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Project Schedule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Rectangle: Rounded Corners 122"/>
            <p:cNvSpPr/>
            <p:nvPr/>
          </p:nvSpPr>
          <p:spPr>
            <a:xfrm>
              <a:off x="616320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Rectangle: Rounded Corners 123"/>
            <p:cNvSpPr/>
            <p:nvPr/>
          </p:nvSpPr>
          <p:spPr>
            <a:xfrm>
              <a:off x="629748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RAID Logs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Rectangle: Rounded Corners 124"/>
            <p:cNvSpPr/>
            <p:nvPr/>
          </p:nvSpPr>
          <p:spPr>
            <a:xfrm>
              <a:off x="8234280" y="3351960"/>
              <a:ext cx="1492920" cy="766080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Rectangle: Rounded Corners 125"/>
            <p:cNvSpPr/>
            <p:nvPr/>
          </p:nvSpPr>
          <p:spPr>
            <a:xfrm>
              <a:off x="8368560" y="3479400"/>
              <a:ext cx="14929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B923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1" strike="noStrike" spc="-1">
                  <a:solidFill>
                    <a:srgbClr val="000000"/>
                  </a:solidFill>
                  <a:latin typeface="Calibri"/>
                </a:rPr>
                <a:t>EXECUTION &amp; MONITORING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Rectangle: Rounded Corners 126"/>
            <p:cNvSpPr/>
            <p:nvPr/>
          </p:nvSpPr>
          <p:spPr>
            <a:xfrm>
              <a:off x="763956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Rectangle: Rounded Corners 127"/>
            <p:cNvSpPr/>
            <p:nvPr/>
          </p:nvSpPr>
          <p:spPr>
            <a:xfrm>
              <a:off x="777348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Model Training and Testing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Rectangle: Rounded Corners 128"/>
            <p:cNvSpPr/>
            <p:nvPr/>
          </p:nvSpPr>
          <p:spPr>
            <a:xfrm>
              <a:off x="5424840" y="558864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Rectangle: Rounded Corners 129"/>
            <p:cNvSpPr/>
            <p:nvPr/>
          </p:nvSpPr>
          <p:spPr>
            <a:xfrm>
              <a:off x="5559120" y="57160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3CA5D9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Study Data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Rectangle: Rounded Corners 130"/>
            <p:cNvSpPr/>
            <p:nvPr/>
          </p:nvSpPr>
          <p:spPr>
            <a:xfrm>
              <a:off x="6901200" y="558864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Rectangle: Rounded Corners 131"/>
            <p:cNvSpPr/>
            <p:nvPr/>
          </p:nvSpPr>
          <p:spPr>
            <a:xfrm>
              <a:off x="7035480" y="57160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3CA5D9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Clean Data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Rectangle: Rounded Corners 132"/>
            <p:cNvSpPr/>
            <p:nvPr/>
          </p:nvSpPr>
          <p:spPr>
            <a:xfrm>
              <a:off x="8377560" y="558864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Rectangle: Rounded Corners 133"/>
            <p:cNvSpPr/>
            <p:nvPr/>
          </p:nvSpPr>
          <p:spPr>
            <a:xfrm>
              <a:off x="8511840" y="57160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3CA5D9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Import Data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Rectangle: Rounded Corners 134"/>
            <p:cNvSpPr/>
            <p:nvPr/>
          </p:nvSpPr>
          <p:spPr>
            <a:xfrm>
              <a:off x="9853920" y="558864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Rectangle: Rounded Corners 135"/>
            <p:cNvSpPr/>
            <p:nvPr/>
          </p:nvSpPr>
          <p:spPr>
            <a:xfrm>
              <a:off x="9987840" y="57160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3CA5D9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Analyse &amp; Create Visualization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Rectangle: Rounded Corners 136"/>
            <p:cNvSpPr/>
            <p:nvPr/>
          </p:nvSpPr>
          <p:spPr>
            <a:xfrm>
              <a:off x="911556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Rectangle: Rounded Corners 137"/>
            <p:cNvSpPr/>
            <p:nvPr/>
          </p:nvSpPr>
          <p:spPr>
            <a:xfrm>
              <a:off x="924984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Demo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Video</a:t>
              </a:r>
              <a:br>
                <a:rPr sz="1600"/>
              </a:b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Rectangle: Rounded Corners 138"/>
            <p:cNvSpPr/>
            <p:nvPr/>
          </p:nvSpPr>
          <p:spPr>
            <a:xfrm>
              <a:off x="10591920" y="335196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Rectangle: Rounded Corners 139"/>
            <p:cNvSpPr/>
            <p:nvPr/>
          </p:nvSpPr>
          <p:spPr>
            <a:xfrm>
              <a:off x="10726200" y="347940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1" strike="noStrike" spc="-1">
                  <a:solidFill>
                    <a:srgbClr val="000000"/>
                  </a:solidFill>
                  <a:latin typeface="Calibri"/>
                </a:rPr>
                <a:t>CLOSURE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Rectangle: Rounded Corners 140"/>
            <p:cNvSpPr/>
            <p:nvPr/>
          </p:nvSpPr>
          <p:spPr>
            <a:xfrm>
              <a:off x="10591920" y="447048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IN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Rectangle: Rounded Corners 141"/>
            <p:cNvSpPr/>
            <p:nvPr/>
          </p:nvSpPr>
          <p:spPr>
            <a:xfrm>
              <a:off x="10726200" y="4597920"/>
              <a:ext cx="1206720" cy="7660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A7317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0840" tIns="60840" rIns="60840" bIns="6084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  <a:tabLst>
                  <a:tab pos="0" algn="l"/>
                </a:tabLst>
              </a:pPr>
              <a:r>
                <a:rPr lang="en-GB" sz="1600" b="0" strike="noStrike" spc="-1">
                  <a:solidFill>
                    <a:srgbClr val="000000"/>
                  </a:solidFill>
                  <a:latin typeface="Calibri"/>
                </a:rPr>
                <a:t>Lessons Learnt, Project Report</a:t>
              </a:r>
              <a:endParaRPr lang="en-IN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3" name="Picture 4" descr="Chart, pie chart&#10;&#10;Description automatically generated"/>
          <p:cNvPicPr/>
          <p:nvPr/>
        </p:nvPicPr>
        <p:blipFill>
          <a:blip r:embed="rId3"/>
          <a:stretch/>
        </p:blipFill>
        <p:spPr>
          <a:xfrm>
            <a:off x="10773360" y="204840"/>
            <a:ext cx="1217160" cy="931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6750</TotalTime>
  <Words>185</Words>
  <Application>Microsoft Office PowerPoint</Application>
  <PresentationFormat>Widescreen</PresentationFormat>
  <Paragraphs>38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Calibri</vt:lpstr>
      <vt:lpstr>gordita</vt:lpstr>
      <vt:lpstr>inherit</vt:lpstr>
      <vt:lpstr>Segoe UI</vt:lpstr>
      <vt:lpstr>Symbol</vt:lpstr>
      <vt:lpstr>Times New Roman</vt:lpstr>
      <vt:lpstr>Wingdings</vt:lpstr>
      <vt:lpstr>Office Theme</vt:lpstr>
      <vt:lpstr>Office Theme</vt:lpstr>
      <vt:lpstr>PowerPoint Presentation</vt:lpstr>
      <vt:lpstr>WORK BREAKDOWN STRUCTURE –  IP4901 Live Project Deliverables – ‘Machine Learning’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subject/>
  <dc:creator>Welcome CC</dc:creator>
  <dc:description/>
  <cp:lastModifiedBy>Mohammed Mandekar</cp:lastModifiedBy>
  <cp:revision>227</cp:revision>
  <dcterms:created xsi:type="dcterms:W3CDTF">2023-07-15T03:43:48Z</dcterms:created>
  <dcterms:modified xsi:type="dcterms:W3CDTF">2024-10-31T05:20:06Z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2</vt:i4>
  </property>
</Properties>
</file>